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SMART INDIA HACKATHON 2026  ·  GOVERNMENT OF INDIA  ·  MINISTRY OF EDUCATION &amp; AICTE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685800"/>
            <a:ext cx="11094415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PROBLEM STATEMENT ID: SIH26056  |  THEME: SMART AUTOMATION  |  CATEGORY: SOFTWARE</a:t>
            </a:r>
          </a:p>
          <a:p>
            <a:pPr>
              <a:spcBef>
                <a:spcPts val="800"/>
              </a:spcBef>
              <a:defRPr sz="3200" b="1">
                <a:solidFill>
                  <a:srgbClr val="0B2545"/>
                </a:solidFill>
                <a:latin typeface="Georgia"/>
              </a:defRPr>
            </a:pPr>
            <a:r>
              <a:t>REAL-TIME AIRFARE PRICE INDEX FOR INDIA</a:t>
            </a:r>
          </a:p>
          <a:p>
            <a:pPr>
              <a:spcBef>
                <a:spcPts val="400"/>
              </a:spcBef>
              <a:defRPr sz="2000" b="1">
                <a:solidFill>
                  <a:srgbClr val="D97706"/>
                </a:solidFill>
                <a:latin typeface="Georgia"/>
              </a:defRPr>
            </a:pPr>
            <a:r>
              <a:t>AeroCPI  +  AeroGuide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MEASURE THE MARKET.  EXPLAIN THE MOVEMENT.  GUIDE THE DECISION.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Developed by Team BuzzCodeX  |  36K+ Persisted Observations  |  140 Tier-1 Panel Cells  |  3 Live Ingestion Paths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77639"/>
            <a:ext cx="351129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3145536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01 THE MARKET CHALLENGE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150M+ domestic air travellers face extreme price volatility across routes, carriers, and horizons.</a:t>
            </a:r>
            <a:br/>
            <a:r>
              <a:t>• Standard CPI captures lagged physical goods; airfares change continuously by minute and seat class.</a:t>
            </a:r>
            <a:br/>
            <a:r>
              <a:t>• Lack of high-frequency price indices leaves policymakers and travellers without real-time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5" y="3977639"/>
            <a:ext cx="351129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4114800"/>
            <a:ext cx="3145536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02 DUAL-LAYER SOLUTION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AeroCPI: Experimental economic airfare index using DGCA passenger weights &amp; Jevons geometric aggregation.</a:t>
            </a:r>
            <a:br/>
            <a:r>
              <a:t>• AeroGuide: Consumer intelligence layer delivering explainable BOOK / WAIT / WATCH fare decisions.</a:t>
            </a:r>
            <a:br/>
            <a:r>
              <a:t>• 5A Log-Linear Econometric Decomposition: Carrier, Horizon, DOW, Seasonality, Route.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3977639"/>
            <a:ext cx="351129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4114800"/>
            <a:ext cx="3145536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03 SCIENTIFIC DISCIPLINE</a:t>
            </a:r>
          </a:p>
          <a:p>
            <a:pPr>
              <a:spcBef>
                <a:spcPts val="4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Multi-Source Ingestion: Google Flights, EaseMyTrip Scrapy, Duffel API pilot.</a:t>
            </a:r>
            <a:br/>
            <a:r>
              <a:t>• Evidence-Gated ML Gate: Forecasting strictly locked (0/7 pairs) until longitudinal depth is proven.</a:t>
            </a:r>
            <a:br/>
            <a:r>
              <a:t>• Immutable Cryptographic Provenance: Every quote tied to SHA-256 raw HTML/JSON capture.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94415" cy="3657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METHODOLOGY BOUNDARY: AeroCPI is an independent prototype measurement system for SIH 2026. It is not official MoSPI CPI.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SMART INDIA HACKATHON 2026  |  TEAM BUZZCODEX  |  PROBLEM STATEMENT ID: SIH26056  |  THEME: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Georgia"/>
              </a:defRPr>
            </a:pPr>
            <a:r>
              <a:t>AEROCPI + AEROGUIDE: PROPOSED SOLUTION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FROM BASIC SCRAPING TO AN AUDITABLE MEASUREMENT &amp; CONSUMER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316175" cy="3840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CORE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108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THE PROBLEM WE SOLVED</a:t>
            </a:r>
          </a:p>
          <a:p>
            <a:pPr>
              <a:spcBef>
                <a:spcPts val="800"/>
              </a:spcBef>
              <a:defRPr sz="1000" b="1">
                <a:solidFill>
                  <a:srgbClr val="0B2545"/>
                </a:solidFill>
                <a:latin typeface="Calibri"/>
              </a:defRPr>
            </a:pPr>
            <a:r>
              <a:t>01 Multi-Dimensional Volatility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Airfares vary simultaneously across route distance, airline carrier, departure date, booking lead time (T+1 to T+60), and booking platform.</a:t>
            </a:r>
          </a:p>
          <a:p>
            <a:pPr>
              <a:spcBef>
                <a:spcPts val="800"/>
              </a:spcBef>
              <a:defRPr sz="1000" b="1">
                <a:solidFill>
                  <a:srgbClr val="0B2545"/>
                </a:solidFill>
                <a:latin typeface="Calibri"/>
              </a:defRPr>
            </a:pPr>
            <a:r>
              <a:t>02 Cross-Source Market Dispersion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Different sources show materially different fare distributions (e.g. Google Flights vs EaseMyTrip median spread of 5.45%). A single source skews reality.</a:t>
            </a:r>
          </a:p>
          <a:p>
            <a:pPr>
              <a:spcBef>
                <a:spcPts val="800"/>
              </a:spcBef>
              <a:defRPr sz="1000" b="1">
                <a:solidFill>
                  <a:srgbClr val="0B2545"/>
                </a:solidFill>
                <a:latin typeface="Calibri"/>
              </a:defRPr>
            </a:pPr>
            <a:r>
              <a:t>03 The Need for Trust &amp; Auditability</a:t>
            </a:r>
          </a:p>
          <a:p>
            <a:pPr>
              <a:defRPr sz="900">
                <a:solidFill>
                  <a:srgbClr val="475569"/>
                </a:solidFill>
                <a:latin typeface="Calibri"/>
              </a:defRPr>
            </a:pPr>
            <a:r>
              <a:t>Travellers and researchers distrust opaque algorithms. Every decision must be mathematically comparable, explainable, and provable.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3258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4630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MEASUREMENT PIPELINE</a:t>
            </a:r>
          </a:p>
          <a:p>
            <a:pPr>
              <a:spcBef>
                <a:spcPts val="500"/>
              </a:spcBef>
              <a:defRPr sz="950" b="1">
                <a:solidFill>
                  <a:srgbClr val="059669"/>
                </a:solidFill>
                <a:latin typeface="Calibri"/>
              </a:defRPr>
            </a:pPr>
            <a:r>
              <a:t>➔ OBSERVE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Multi-source extraction (Google, EaseMyTrip, Duffel)</a:t>
            </a:r>
          </a:p>
          <a:p>
            <a:pPr>
              <a:spcBef>
                <a:spcPts val="500"/>
              </a:spcBef>
              <a:defRPr sz="950" b="1">
                <a:solidFill>
                  <a:srgbClr val="0284C7"/>
                </a:solidFill>
                <a:latin typeface="Calibri"/>
              </a:defRPr>
            </a:pPr>
            <a:r>
              <a:t>➔ NORMALIZE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Standardized 10-field canonical quote schema</a:t>
            </a:r>
          </a:p>
          <a:p>
            <a:pPr>
              <a:spcBef>
                <a:spcPts val="500"/>
              </a:spcBef>
              <a:defRPr sz="950" b="1">
                <a:solidFill>
                  <a:srgbClr val="6366F1"/>
                </a:solidFill>
                <a:latin typeface="Calibri"/>
              </a:defRPr>
            </a:pPr>
            <a:r>
              <a:t>➔ MEASURE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Jevons geometric index + DGCA passenger weights</a:t>
            </a:r>
          </a:p>
          <a:p>
            <a:pPr>
              <a:spcBef>
                <a:spcPts val="500"/>
              </a:spcBef>
              <a:defRPr sz="950" b="1">
                <a:solidFill>
                  <a:srgbClr val="D97706"/>
                </a:solidFill>
                <a:latin typeface="Calibri"/>
              </a:defRPr>
            </a:pPr>
            <a:r>
              <a:t>➔ COMPARE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Cross-source agreement lab &amp; fare dispersion</a:t>
            </a:r>
          </a:p>
          <a:p>
            <a:pPr>
              <a:spcBef>
                <a:spcPts val="500"/>
              </a:spcBef>
              <a:defRPr sz="950" b="1">
                <a:solidFill>
                  <a:srgbClr val="059669"/>
                </a:solidFill>
                <a:latin typeface="Calibri"/>
              </a:defRPr>
            </a:pPr>
            <a:r>
              <a:t>➔ GUIDE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Explainable BOOK / WAIT / WATCH policy engine</a:t>
            </a:r>
          </a:p>
          <a:p>
            <a:pPr>
              <a:spcBef>
                <a:spcPts val="500"/>
              </a:spcBef>
              <a:defRPr sz="950" b="1">
                <a:solidFill>
                  <a:srgbClr val="0B2545"/>
                </a:solidFill>
                <a:latin typeface="Calibri"/>
              </a:defRPr>
            </a:pPr>
            <a:r>
              <a:t>➔ VERIFY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SHA-256 provenance &amp; calculation manifests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325880"/>
            <a:ext cx="441929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417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AEROGUIDE CONSUMER INTELLIGENCE LAYER</a:t>
            </a:r>
          </a:p>
        </p:txBody>
      </p:sp>
      <p:pic>
        <p:nvPicPr>
          <p:cNvPr id="12" name="Picture 11" descr="01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783080"/>
            <a:ext cx="4144975" cy="3337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5394960"/>
            <a:ext cx="351129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4406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🟢 1. MEASURE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National airfare movement across 10 trunk routes using DGCA passenger weighting.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5" y="5394960"/>
            <a:ext cx="351129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54406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Calibri"/>
              </a:defRPr>
            </a:pPr>
            <a:r>
              <a:t>🔵 2. EXPLAIN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Route &amp; source pricing drivers decomposed via 5A log-linear attribution.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5394960"/>
            <a:ext cx="3511296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544068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🟣 3. VERIFY</a:t>
            </a:r>
          </a:p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SHA-256 provenance hashes &amp; evidence-gated forecasting safeguards.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263640"/>
            <a:ext cx="11094415" cy="3657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CORE DISTINCTION: We did not stop at scraping. We engineered a national measurement layer AND an auditable consumer decision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SMART INDIA HACKATHON 2026  |  TEAM BUZZCODEX  |  PROBLEM STATEMENT ID: SIH26056  |  THEME: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Georgia"/>
              </a:defRPr>
            </a:pPr>
            <a:r>
              <a:t>TECHNICAL APPROACH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MULTI-SOURCE INGESTION ➔ CANONICAL OBSERVATION ➔ JEVONS INDEX ➔ EVIDENCE-GATED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316175" cy="3840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737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73736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01 SOURCE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91640"/>
            <a:ext cx="15910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Google Flights (Live)</a:t>
            </a:r>
            <a:br/>
            <a:r>
              <a:t>• EaseMyTrip (Scrapy)</a:t>
            </a:r>
            <a:br/>
            <a:r>
              <a:t>• Duffel API (Pilot)</a:t>
            </a:r>
            <a:br/>
            <a:r>
              <a:t>• NDC Partner Adapters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14016" y="1325880"/>
            <a:ext cx="1737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14016" y="1325880"/>
            <a:ext cx="1737360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02 CANONICAL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691640"/>
            <a:ext cx="15910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Route &amp; Travel Date</a:t>
            </a:r>
            <a:br/>
            <a:r>
              <a:t>• Search Timestamp</a:t>
            </a:r>
            <a:br/>
            <a:r>
              <a:t>• Airline &amp; Cabin</a:t>
            </a:r>
            <a:br/>
            <a:r>
              <a:t>• Base, Tax, Total Fare</a:t>
            </a:r>
            <a:br/>
            <a:r>
              <a:t>• Stops, Duration, APW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325880"/>
            <a:ext cx="1737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325880"/>
            <a:ext cx="1737360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03 QUALITY &amp; PROVENANCE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691640"/>
            <a:ext cx="15910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Deduplication filter</a:t>
            </a:r>
            <a:br/>
            <a:r>
              <a:t>• Comparability rules</a:t>
            </a:r>
            <a:br/>
            <a:r>
              <a:t>• SHA-256 raw capture</a:t>
            </a:r>
            <a:br/>
            <a:r>
              <a:t>• Quote fingerprinting</a:t>
            </a:r>
            <a:br/>
            <a:r>
              <a:t>• Anomaly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325880"/>
            <a:ext cx="1737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325880"/>
            <a:ext cx="173736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04 INDEX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91640"/>
            <a:ext cx="15910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10 DGCA trunk routes</a:t>
            </a:r>
            <a:br/>
            <a:r>
              <a:t>• Jevons geometric mean</a:t>
            </a:r>
            <a:br/>
            <a:r>
              <a:t>• AeroCPI Headline</a:t>
            </a:r>
            <a:br/>
            <a:r>
              <a:t>• 5A Log-Linear model</a:t>
            </a:r>
            <a:br/>
            <a:r>
              <a:t>• Advance Horizon APW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1325880"/>
            <a:ext cx="1737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325880"/>
            <a:ext cx="173736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05 AEROGUIDE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1691640"/>
            <a:ext cx="15910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Cross-Source Spread</a:t>
            </a:r>
            <a:br/>
            <a:r>
              <a:t>• Airline Intelligence</a:t>
            </a:r>
            <a:br/>
            <a:r>
              <a:t>• Flexible Dates Matrix</a:t>
            </a:r>
            <a:br/>
            <a:r>
              <a:t>• Decision Policy Engine</a:t>
            </a:r>
            <a:br/>
            <a:r>
              <a:t>• 11-Node Decision Trace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19" y="1325880"/>
            <a:ext cx="1737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19" y="1325880"/>
            <a:ext cx="1737360" cy="3200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06 AUDIT &amp;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1691640"/>
            <a:ext cx="15910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Manifests</a:t>
            </a:r>
            <a:br/>
            <a:r>
              <a:t>• Reproducibility CLI</a:t>
            </a:r>
            <a:br/>
            <a:r>
              <a:t>• ML Gate: LOCKED</a:t>
            </a:r>
            <a:br/>
            <a:r>
              <a:t>• 301 backend tests</a:t>
            </a:r>
            <a:br/>
            <a:r>
              <a:t>• Immutable audit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233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B2545"/>
                </a:solidFill>
                <a:latin typeface="Calibri"/>
              </a:defRPr>
            </a:pPr>
            <a:r>
              <a:t>EVIDENCE: CROSS-SOURCE AGREEMENT &amp; DECISION TRACE</a:t>
            </a:r>
          </a:p>
        </p:txBody>
      </p:sp>
      <p:pic>
        <p:nvPicPr>
          <p:cNvPr id="26" name="Picture 25" descr="05_SOURCE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43400"/>
            <a:ext cx="5120640" cy="17373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217920" y="3931920"/>
            <a:ext cx="542513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023360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  <a:latin typeface="Calibri"/>
              </a:defRPr>
            </a:pPr>
            <a:r>
              <a:t>MATHEMATICAL FORMULATION (JEVONS INDEX)</a:t>
            </a:r>
          </a:p>
          <a:p>
            <a:pPr>
              <a:spcBef>
                <a:spcPts val="400"/>
              </a:spcBef>
              <a:defRPr sz="1100" b="1">
                <a:solidFill>
                  <a:srgbClr val="0B2545"/>
                </a:solidFill>
                <a:latin typeface="Consolas"/>
              </a:defRPr>
            </a:pPr>
            <a:r>
              <a:t>I_h = 100 · exp( Σ w_r · ln( J_{r,h} / 100 ) )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  <a:latin typeface="Calibri"/>
              </a:defRPr>
            </a:pPr>
            <a:r>
              <a:t>Where w_r is DGCA annual route passenger share, and J_{r,h} is the geometric mean of observed fares for route r at advance purchase horizon h.</a:t>
            </a:r>
          </a:p>
          <a:p>
            <a:pPr>
              <a:spcBef>
                <a:spcPts val="600"/>
              </a:spcBef>
              <a:defRPr sz="950" b="1">
                <a:solidFill>
                  <a:srgbClr val="059669"/>
                </a:solidFill>
                <a:latin typeface="Calibri"/>
              </a:defRPr>
            </a:pPr>
            <a:r>
              <a:t>PRODUCTION TECH STACK &amp; ENGINE INTEGRITY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Backend: Python 3.13, FastAPI (Async), SQLAlchemy 2.0, SQLite / PostgreSQL</a:t>
            </a:r>
            <a:br/>
            <a:r>
              <a:t>• Ingestion: Scrapy Crawler Layer, Playwright Browser Engine, REST API Client</a:t>
            </a:r>
            <a:br/>
            <a:r>
              <a:t>• Frontend: React 18, TypeScript, Tailwind CSS, Lucide Icons, Vitest (25/25 passed)</a:t>
            </a:r>
            <a:br/>
            <a:r>
              <a:t>• Test Suite: 301/301 Pytest Verified (Pre-4B Hardening &amp; Provenance Audits)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263640"/>
            <a:ext cx="11094415" cy="3657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ONE CANONICAL OBSERVATION MODEL  ·  MULTIPLE ACQUISITION PATHS  ·  ONE AUDITABLE MEASUREMENT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SMART INDIA HACKATHON 2026  |  TEAM BUZZCODEX  |  PROBLEM STATEMENT ID: SIH26056  |  THEME: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Georgia"/>
              </a:defRPr>
            </a:pPr>
            <a:r>
              <a:t>FEASIBILITY &amp; VIABILITY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EMPIRICAL PROOF, OPERATIONAL STABILITY, RISK MITIGATIONS &amp; SUSTAINABILITY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316175" cy="3840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VERIFIED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WHY IT IS BUILDABLE &amp; ROBUST</a:t>
            </a:r>
          </a:p>
          <a:p>
            <a:pPr>
              <a:spcBef>
                <a:spcPts val="400"/>
              </a:spcBef>
              <a:defRPr sz="900" b="1">
                <a:solidFill>
                  <a:srgbClr val="0B2545"/>
                </a:solidFill>
                <a:latin typeface="Calibri"/>
              </a:defRPr>
            </a:pPr>
            <a:r>
              <a:t>✓ Multiple Ingestion Paths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Web Scraping, Scrapy Spiders &amp; REST APIs operational</a:t>
            </a:r>
          </a:p>
          <a:p>
            <a:pPr>
              <a:spcBef>
                <a:spcPts val="400"/>
              </a:spcBef>
              <a:defRPr sz="900" b="1">
                <a:solidFill>
                  <a:srgbClr val="0B2545"/>
                </a:solidFill>
                <a:latin typeface="Calibri"/>
              </a:defRPr>
            </a:pPr>
            <a:r>
              <a:t>✓ Canonical Normalization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10-field strict typing eliminates parser divergence</a:t>
            </a:r>
          </a:p>
          <a:p>
            <a:pPr>
              <a:spcBef>
                <a:spcPts val="400"/>
              </a:spcBef>
              <a:defRPr sz="900" b="1">
                <a:solidFill>
                  <a:srgbClr val="0B2545"/>
                </a:solidFill>
                <a:latin typeface="Calibri"/>
              </a:defRPr>
            </a:pPr>
            <a:r>
              <a:t>✓ Source-Isolated Architecture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Failure in one scraper never degrades other sources</a:t>
            </a:r>
          </a:p>
          <a:p>
            <a:pPr>
              <a:spcBef>
                <a:spcPts val="400"/>
              </a:spcBef>
              <a:defRPr sz="900" b="1">
                <a:solidFill>
                  <a:srgbClr val="0B2545"/>
                </a:solidFill>
                <a:latin typeface="Calibri"/>
              </a:defRPr>
            </a:pPr>
            <a:r>
              <a:t>✓ Automated Daily Collection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OS Task Scheduler runs daily batch pipelines</a:t>
            </a:r>
          </a:p>
          <a:p>
            <a:pPr>
              <a:spcBef>
                <a:spcPts val="400"/>
              </a:spcBef>
              <a:defRPr sz="900" b="1">
                <a:solidFill>
                  <a:srgbClr val="0B2545"/>
                </a:solidFill>
                <a:latin typeface="Calibri"/>
              </a:defRPr>
            </a:pPr>
            <a:r>
              <a:t>✓ Cryptographic Provenance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SHA-256 payload fingerprints on every raw observation</a:t>
            </a:r>
          </a:p>
          <a:p>
            <a:pPr>
              <a:spcBef>
                <a:spcPts val="400"/>
              </a:spcBef>
              <a:defRPr sz="900" b="1">
                <a:solidFill>
                  <a:srgbClr val="0B2545"/>
                </a:solidFill>
                <a:latin typeface="Calibri"/>
              </a:defRPr>
            </a:pPr>
            <a:r>
              <a:t>✓ Frozen Methodology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Mathematical index calculation is versioned &amp; static</a:t>
            </a:r>
          </a:p>
          <a:p>
            <a:pPr>
              <a:spcBef>
                <a:spcPts val="400"/>
              </a:spcBef>
              <a:defRPr sz="900" b="1">
                <a:solidFill>
                  <a:srgbClr val="0B2545"/>
                </a:solidFill>
                <a:latin typeface="Calibri"/>
              </a:defRPr>
            </a:pPr>
            <a:r>
              <a:t>✓ Evidence-Gated ML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Forecast lock prevents false or unscientific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325880"/>
            <a:ext cx="3657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4630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REAL CURRENT EMPIRICAL EVIDENCE</a:t>
            </a:r>
          </a:p>
          <a:p>
            <a:pPr>
              <a:spcBef>
                <a:spcPts val="400"/>
              </a:spcBef>
              <a:defRPr sz="950" b="1">
                <a:solidFill>
                  <a:srgbClr val="0B2545"/>
                </a:solidFill>
                <a:latin typeface="Calibri"/>
              </a:defRPr>
            </a:pPr>
            <a:r>
              <a:t>● 36K+ Persisted Observations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Real multi-source airfare quotes stored in database</a:t>
            </a:r>
          </a:p>
          <a:p>
            <a:pPr>
              <a:spcBef>
                <a:spcPts val="400"/>
              </a:spcBef>
              <a:defRPr sz="950" b="1">
                <a:solidFill>
                  <a:srgbClr val="0B2545"/>
                </a:solidFill>
                <a:latin typeface="Calibri"/>
              </a:defRPr>
            </a:pPr>
            <a:r>
              <a:t>● 140 Tier-1 Panel Cells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10 routes × 14 departure dates tracked longitudinally</a:t>
            </a:r>
          </a:p>
          <a:p>
            <a:pPr>
              <a:spcBef>
                <a:spcPts val="400"/>
              </a:spcBef>
              <a:defRPr sz="950" b="1">
                <a:solidFill>
                  <a:srgbClr val="0B2545"/>
                </a:solidFill>
                <a:latin typeface="Calibri"/>
              </a:defRPr>
            </a:pPr>
            <a:r>
              <a:t>● 100% Multi-Source Coverage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All 140 panel cells have ≥2 independently observed sources</a:t>
            </a:r>
          </a:p>
          <a:p>
            <a:pPr>
              <a:spcBef>
                <a:spcPts val="400"/>
              </a:spcBef>
              <a:defRPr sz="950" b="1">
                <a:solidFill>
                  <a:srgbClr val="0B2545"/>
                </a:solidFill>
                <a:latin typeface="Calibri"/>
              </a:defRPr>
            </a:pPr>
            <a:r>
              <a:t>● 3 Observed Sources in Pilot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Google Flights (Live), EaseMyTrip (Scrapy), Duffel (Pilot)</a:t>
            </a:r>
          </a:p>
          <a:p>
            <a:pPr>
              <a:spcBef>
                <a:spcPts val="400"/>
              </a:spcBef>
              <a:defRPr sz="950" b="1">
                <a:solidFill>
                  <a:srgbClr val="0B2545"/>
                </a:solidFill>
                <a:latin typeface="Calibri"/>
              </a:defRPr>
            </a:pPr>
            <a:r>
              <a:t>● 0.98% Median Diff (DEL-BOM)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High agreement between Google Flights &amp; Duffel</a:t>
            </a:r>
          </a:p>
          <a:p>
            <a:pPr>
              <a:spcBef>
                <a:spcPts val="400"/>
              </a:spcBef>
              <a:defRPr sz="950" b="1">
                <a:solidFill>
                  <a:srgbClr val="0B2545"/>
                </a:solidFill>
                <a:latin typeface="Calibri"/>
              </a:defRPr>
            </a:pPr>
            <a:r>
              <a:t>● 5.45% Median Spread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Moderate dispersion between Google Flights &amp; EaseMyTrip</a:t>
            </a:r>
          </a:p>
          <a:p>
            <a:pPr>
              <a:spcBef>
                <a:spcPts val="800"/>
              </a:spcBef>
              <a:defRPr sz="900" b="1">
                <a:solidFill>
                  <a:srgbClr val="E11D48"/>
                </a:solidFill>
                <a:latin typeface="Calibri"/>
              </a:defRPr>
            </a:pPr>
            <a:r>
              <a:t>🔒 ML FORECAST GATE: LOCKED</a:t>
            </a:r>
          </a:p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0/7 required 7-day longitudinal target pairs recorded. Forecast model locked by scientific safeguard.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25880"/>
            <a:ext cx="377921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RISKS ➔ ARCHITECTURAL MITIGATIONS</a:t>
            </a:r>
          </a:p>
          <a:p>
            <a:pPr>
              <a:spcBef>
                <a:spcPts val="400"/>
              </a:spcBef>
              <a:defRPr sz="850" b="1">
                <a:solidFill>
                  <a:srgbClr val="0B2545"/>
                </a:solidFill>
                <a:latin typeface="Calibri"/>
              </a:defRPr>
            </a:pPr>
            <a:r>
              <a:t>• Website UI Changes</a:t>
            </a:r>
          </a:p>
          <a:p>
            <a:pPr>
              <a:defRPr sz="800">
                <a:solidFill>
                  <a:srgbClr val="059669"/>
                </a:solidFill>
                <a:latin typeface="Calibri"/>
              </a:defRPr>
            </a:pPr>
            <a:r>
              <a:t>  ➔ Mitigation: Modular adapters + Scrapy/Playwright decoupling</a:t>
            </a:r>
          </a:p>
          <a:p>
            <a:pPr>
              <a:spcBef>
                <a:spcPts val="400"/>
              </a:spcBef>
              <a:defRPr sz="850" b="1">
                <a:solidFill>
                  <a:srgbClr val="0B2545"/>
                </a:solidFill>
                <a:latin typeface="Calibri"/>
              </a:defRPr>
            </a:pPr>
            <a:r>
              <a:t>• Dynamic Carrier Pricing</a:t>
            </a:r>
          </a:p>
          <a:p>
            <a:pPr>
              <a:defRPr sz="800">
                <a:solidFill>
                  <a:srgbClr val="059669"/>
                </a:solidFill>
                <a:latin typeface="Calibri"/>
              </a:defRPr>
            </a:pPr>
            <a:r>
              <a:t>  ➔ Mitigation: Fixed standard specifications (Economy, Direct Trunk)</a:t>
            </a:r>
          </a:p>
          <a:p>
            <a:pPr>
              <a:spcBef>
                <a:spcPts val="400"/>
              </a:spcBef>
              <a:defRPr sz="850" b="1">
                <a:solidFill>
                  <a:srgbClr val="0B2545"/>
                </a:solidFill>
                <a:latin typeface="Calibri"/>
              </a:defRPr>
            </a:pPr>
            <a:r>
              <a:t>• Source Disagreement</a:t>
            </a:r>
          </a:p>
          <a:p>
            <a:pPr>
              <a:defRPr sz="800">
                <a:solidFill>
                  <a:srgbClr val="059669"/>
                </a:solidFill>
                <a:latin typeface="Calibri"/>
              </a:defRPr>
            </a:pPr>
            <a:r>
              <a:t>  ➔ Mitigation: Cross-Source Agreement Lab measuring spread</a:t>
            </a:r>
          </a:p>
          <a:p>
            <a:pPr>
              <a:spcBef>
                <a:spcPts val="400"/>
              </a:spcBef>
              <a:defRPr sz="850" b="1">
                <a:solidFill>
                  <a:srgbClr val="0B2545"/>
                </a:solidFill>
                <a:latin typeface="Calibri"/>
              </a:defRPr>
            </a:pPr>
            <a:r>
              <a:t>• Data Quality Anomaly</a:t>
            </a:r>
          </a:p>
          <a:p>
            <a:pPr>
              <a:defRPr sz="800">
                <a:solidFill>
                  <a:srgbClr val="059669"/>
                </a:solidFill>
                <a:latin typeface="Calibri"/>
              </a:defRPr>
            </a:pPr>
            <a:r>
              <a:t>  ➔ Mitigation: Strict 10-point validation rules &amp; fingerprinting</a:t>
            </a:r>
          </a:p>
          <a:p>
            <a:pPr>
              <a:spcBef>
                <a:spcPts val="400"/>
              </a:spcBef>
              <a:defRPr sz="850" b="1">
                <a:solidFill>
                  <a:srgbClr val="0B2545"/>
                </a:solidFill>
                <a:latin typeface="Calibri"/>
              </a:defRPr>
            </a:pPr>
            <a:r>
              <a:t>• Insufficient Temporal Depth</a:t>
            </a:r>
          </a:p>
          <a:p>
            <a:pPr>
              <a:defRPr sz="800">
                <a:solidFill>
                  <a:srgbClr val="059669"/>
                </a:solidFill>
                <a:latin typeface="Calibri"/>
              </a:defRPr>
            </a:pPr>
            <a:r>
              <a:t>  ➔ Mitigation: Evidence-gated AI locks forecasting automatically</a:t>
            </a:r>
          </a:p>
          <a:p>
            <a:pPr>
              <a:spcBef>
                <a:spcPts val="400"/>
              </a:spcBef>
              <a:defRPr sz="850" b="1">
                <a:solidFill>
                  <a:srgbClr val="0B2545"/>
                </a:solidFill>
                <a:latin typeface="Calibri"/>
              </a:defRPr>
            </a:pPr>
            <a:r>
              <a:t>• Channel Access Restrictions</a:t>
            </a:r>
          </a:p>
          <a:p>
            <a:pPr>
              <a:defRPr sz="800">
                <a:solidFill>
                  <a:srgbClr val="059669"/>
                </a:solidFill>
                <a:latin typeface="Calibri"/>
              </a:defRPr>
            </a:pPr>
            <a:r>
              <a:t>  ➔ Mitigation: Permission-aware collection + NDC direct API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94960"/>
            <a:ext cx="1109441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POTENTIAL SUSTAINABILITY &amp; INSTITUTIONAL MODEL</a:t>
            </a:r>
          </a:p>
          <a:p>
            <a:pPr>
              <a:spcBef>
                <a:spcPts val="200"/>
              </a:spcBef>
              <a:defRPr sz="900" b="1">
                <a:solidFill>
                  <a:srgbClr val="0F172A"/>
                </a:solidFill>
                <a:latin typeface="Calibri"/>
              </a:defRPr>
            </a:pPr>
            <a:r>
              <a:t>Freemium Consumer Airfare Guide (AeroGuide)  ➔  Enterprise &amp; OTA Market Analytics  ➔  Government / MoSPI Policy Dashboards  ➔  Academic Research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263640"/>
            <a:ext cx="11094415" cy="3657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HIGH SCALABILITY: Horizontally expandable across 100+ domestic airports, global NDC APIs, and hourly collection intervals.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SMART INDIA HACKATHON 2026  |  TEAM BUZZCODEX  |  PROBLEM STATEMENT ID: SIH26056  |  THEME: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Georgia"/>
              </a:defRPr>
            </a:pPr>
            <a:r>
              <a:t>IMPACT &amp; BENEFITS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DELIVERING TANGIBLE VALUE TO POLICYMAKERS, TRAVELLERS &amp; RESEARCHERS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316175" cy="3840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STAKEHOLDER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1129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11296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01 POLICY / STATISTICAL AGENCIES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High-Frequency Measurement: Daily airfare indices supplementing lagged monthly CPI reports.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Standardized Route Basket: DGCA passenger-weighted city pairs reflect actual mobility demand.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Econometric 5A Attribution: Decomposes fare movements into carrier, horizon, and seasonal drivers.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Audit Trail: Complete calculation manifests ready for institutional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325880"/>
            <a:ext cx="351129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5" y="1325880"/>
            <a:ext cx="3511296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02 TRAVELLERS &amp; CONSUMERS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16916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Real-Time Fare Context: Instant visibility into whether current fare (₹10,495) is elevated vs baseline.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Cross-Source Spread: Unbiased comparison between Google Flights, EaseMyTrip, and API feeds.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Nearby Alternative Dates: Calendar fare matrices showing cheapest departure windows.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Actionable Advice: Clear BOOK / WAIT / WATCH guidance backed by 11-node decision trace.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1325880"/>
            <a:ext cx="351129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9871" y="1325880"/>
            <a:ext cx="3511296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03 RESEARCH &amp; AVIATION INDUSTRY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16916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Multi-Source Dataset: Canonical observations covering trunk corridors across multiple lead horizons.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Market Dispersion Analysis: Measures yield management divergence between low-cost and full-service carriers.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Longitudinal Panel Studies: Foundation for academic research in transportation pricing elasticity.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Calibri"/>
              </a:defRPr>
            </a:pPr>
            <a:r>
              <a:t>• Open Architecture: Modular Scrapy &amp; API schemas enabling broader aviation study.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B2545"/>
                </a:solidFill>
                <a:latin typeface="Calibri"/>
              </a:defRPr>
            </a:pPr>
            <a:r>
              <a:t>AEROGUIDE: CONSUMER DECISION HERO (BLR ➔ DEL · WATCH FARE)</a:t>
            </a:r>
          </a:p>
        </p:txBody>
      </p:sp>
      <p:pic>
        <p:nvPicPr>
          <p:cNvPr id="17" name="Picture 16" descr="01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43400"/>
            <a:ext cx="5120640" cy="17373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217920" y="3931920"/>
            <a:ext cx="542513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0233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Calibri"/>
              </a:defRPr>
            </a:pPr>
            <a:r>
              <a:t>AEROCPI: NATIONAL HEADLINE INDEX (96.21 · 5A ATTRIBUTION)</a:t>
            </a:r>
          </a:p>
        </p:txBody>
      </p:sp>
      <p:pic>
        <p:nvPicPr>
          <p:cNvPr id="20" name="Picture 19" descr="03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343400"/>
            <a:ext cx="5120640" cy="17373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48640" y="6263640"/>
            <a:ext cx="11094415" cy="3657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OBSERVE  ➔  UNDERSTAND  ➔  DECIDE  ➔  VERIFY  |  NOT JUST THE PRICE: THE SIGNAL, THE REASON, THE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SMART INDIA HACKATHON 2026  |  TEAM BUZZCODEX  |  PROBLEM STATEMENT ID: SIH26056  |  THEME: SMART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B2545"/>
                </a:solidFill>
                <a:latin typeface="Georgia"/>
              </a:defRPr>
            </a:pPr>
            <a:r>
              <a:t>RESEARCH &amp; REFERENCES</a:t>
            </a:r>
          </a:p>
          <a:p>
            <a:pPr>
              <a:spcBef>
                <a:spcPts val="2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INSTITUTIONAL GROUNDING, METHODOLOGICAL PRECEDENTS &amp; AUDIT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502920"/>
            <a:ext cx="2316175" cy="3840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Calibri"/>
              </a:defRPr>
            </a:pPr>
            <a:r>
              <a:t>CREDIBILITY &amp;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1129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1129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01 MoSPI / PIB (Government of India)</a:t>
            </a:r>
          </a:p>
        </p:txBody>
      </p:sp>
      <p:pic>
        <p:nvPicPr>
          <p:cNvPr id="8" name="Picture 7" descr="qr_mos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1" y="166420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• Consumer Price Index (Base 2012=100) framework.</a:t>
            </a:r>
            <a:br/>
            <a:r>
              <a:t>• Transport &amp; Communication subgroup CPI weights.</a:t>
            </a:r>
            <a:br/>
            <a:r>
              <a:t>• High-frequency experimental airfare measurement context.</a:t>
            </a:r>
          </a:p>
          <a:p>
            <a:pPr>
              <a:spcBef>
                <a:spcPts val="200"/>
              </a:spcBef>
              <a:defRPr sz="750" b="1">
                <a:solidFill>
                  <a:srgbClr val="059669"/>
                </a:solidFill>
                <a:latin typeface="Consolas"/>
              </a:defRPr>
            </a:pPr>
            <a:r>
              <a:t>https://mospi.gov.in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325880"/>
            <a:ext cx="351129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5" y="1325880"/>
            <a:ext cx="3511296" cy="2926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02 DGCA (Ministry of Civil Aviation)</a:t>
            </a:r>
          </a:p>
        </p:txBody>
      </p:sp>
      <p:pic>
        <p:nvPicPr>
          <p:cNvPr id="12" name="Picture 11" descr="qr_dg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691640"/>
            <a:ext cx="868680" cy="868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13247" y="166420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• Monthly Domestic City-Pair Passenger Traffic Reports.</a:t>
            </a:r>
            <a:br/>
            <a:r>
              <a:t>• Route volume weights (w_r) derived from annual traffic.</a:t>
            </a:r>
            <a:br/>
            <a:r>
              <a:t>• Top 10 domestic trunk corridor basket definition.</a:t>
            </a:r>
          </a:p>
          <a:p>
            <a:pPr>
              <a:spcBef>
                <a:spcPts val="200"/>
              </a:spcBef>
              <a:defRPr sz="750" b="1">
                <a:solidFill>
                  <a:srgbClr val="0284C7"/>
                </a:solidFill>
                <a:latin typeface="Consolas"/>
              </a:defRPr>
            </a:pPr>
            <a:r>
              <a:t>https://www.dgca.gov.in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325880"/>
            <a:ext cx="3511296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1" y="1325880"/>
            <a:ext cx="3511296" cy="2926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03 SIH 2026 (Ministry of Education)</a:t>
            </a:r>
          </a:p>
        </p:txBody>
      </p:sp>
      <p:pic>
        <p:nvPicPr>
          <p:cNvPr id="16" name="Picture 15" descr="qr_s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1" y="1691640"/>
            <a:ext cx="868680" cy="868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98863" y="1664208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• Problem Statement SIH26056: Real-time Airfare Price Index.</a:t>
            </a:r>
            <a:br/>
            <a:r>
              <a:t>• Theme: Smart Automation | Category: Software.</a:t>
            </a:r>
            <a:br/>
            <a:r>
              <a:t>• Team BuzzCodeX official prototype submission.</a:t>
            </a:r>
          </a:p>
          <a:p>
            <a:pPr>
              <a:spcBef>
                <a:spcPts val="200"/>
              </a:spcBef>
              <a:defRPr sz="750" b="1">
                <a:solidFill>
                  <a:srgbClr val="6366F1"/>
                </a:solidFill>
                <a:latin typeface="Consolas"/>
              </a:defRPr>
            </a:pPr>
            <a:r>
              <a:t>https://sih.gov.in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80"/>
            <a:ext cx="3511296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3511296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04 METHODOLOGICAL PRECEDENTS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323697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U.S. Bureau of Labor Statistics (BLS): Airline Fare Index sampling methodology across advance horizons.</a:t>
            </a:r>
            <a:br/>
            <a:r>
              <a:t>• Jevons Elementary Geometric Formula: Standard axiomatic price index formula mitigating substitution bias.</a:t>
            </a:r>
            <a:br/>
            <a:r>
              <a:t>• APW Sampling Set: Horizon analysis across {1, 7, 15, 30, 45, 60} days.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5" y="3611880"/>
            <a:ext cx="3511296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4255" y="3611880"/>
            <a:ext cx="3511296" cy="2926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05 AEROCPI AUDIT EVIDENCE</a:t>
            </a:r>
          </a:p>
        </p:txBody>
      </p:sp>
      <p:pic>
        <p:nvPicPr>
          <p:cNvPr id="23" name="Picture 22" descr="qr_au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977639"/>
            <a:ext cx="868680" cy="868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13247" y="3977639"/>
            <a:ext cx="2331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F172A"/>
                </a:solidFill>
                <a:latin typeface="Calibri"/>
              </a:defRPr>
            </a:pPr>
            <a:r>
              <a:t>• 301/301 Pytest Verification Suite.</a:t>
            </a:r>
            <a:br/>
            <a:r>
              <a:t>• 25/25 Vitest UI Component Tests.</a:t>
            </a:r>
            <a:br/>
            <a:r>
              <a:t>• SHA-256 Provenance Hashes.</a:t>
            </a:r>
            <a:br/>
            <a:r>
              <a:t>• Immutable JSON Calculation Manifests.</a:t>
            </a:r>
            <a:br/>
            <a:r>
              <a:t>• Reproducibility Engine CLI.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1" y="3611880"/>
            <a:ext cx="3511296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1" y="3611880"/>
            <a:ext cx="3511296" cy="2926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METHODOLOGICAL BOUNDARY &amp; AUDIT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3977639"/>
            <a:ext cx="323697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 b="1">
                <a:solidFill>
                  <a:srgbClr val="0B2545"/>
                </a:solidFill>
                <a:latin typeface="Calibri"/>
              </a:defRPr>
            </a:pPr>
            <a:r>
              <a:t>AeroCPI is an independent experimental measurement system developed for SIH 2026. It is NOT official CPI and does not replace official MoSPI statistics.</a:t>
            </a:r>
          </a:p>
          <a:p>
            <a:pPr>
              <a:spcBef>
                <a:spcPts val="600"/>
              </a:spcBef>
              <a:defRPr sz="850" b="1">
                <a:solidFill>
                  <a:srgbClr val="E11D48"/>
                </a:solidFill>
                <a:latin typeface="Calibri"/>
              </a:defRPr>
            </a:pPr>
            <a:r>
              <a:t>CORE AUDIT PRINCIPLE:</a:t>
            </a:r>
          </a:p>
          <a:p>
            <a:pPr>
              <a:spcBef>
                <a:spcPts val="200"/>
              </a:spcBef>
              <a:defRPr sz="800">
                <a:solidFill>
                  <a:srgbClr val="475569"/>
                </a:solidFill>
                <a:latin typeface="Calibri"/>
              </a:defRPr>
            </a:pPr>
            <a:r>
              <a:t>Never fabricate missing evidence. If longitudinal depth is insufficient, ML forecasting is strictly locked with clear disclosure.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263640"/>
            <a:ext cx="11094415" cy="36576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AUDIT PRINCIPLE: NEVER FABRICATE MISSING EVIDENCE  |  OFFICIAL SIH 2026 SUBMISSION  |  TEAM BUZZCODEX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